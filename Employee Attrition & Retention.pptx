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4"/>
  </p:sldMasterIdLst>
  <p:sldIdLst>
    <p:sldId id="257" r:id="rId5"/>
    <p:sldId id="260" r:id="rId6"/>
    <p:sldId id="261" r:id="rId7"/>
    <p:sldId id="259"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7" d="100"/>
          <a:sy n="67" d="100"/>
        </p:scale>
        <p:origin x="85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184DA70-C731-4C70-880D-CCD4705E623C}" type="datetime1">
              <a:rPr lang="en-US" smtClean="0"/>
              <a:t>4/11/2025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3A98EE3D-8CD1-4C3F-BD1C-C98C9596463C}"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085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42083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6160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6347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4/11/2025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910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4/11/2025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4166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4/11/2025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52449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720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4/11/2025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0641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8217370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800306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069973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2712499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481593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25499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1007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46157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D6E202-B606-4609-B914-27C9371A1F6D}" type="datetime1">
              <a:rPr lang="en-US" smtClean="0"/>
              <a:t>4/11/2025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364408402"/>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4231966" y="639097"/>
            <a:ext cx="6269347" cy="3790028"/>
          </a:xfrm>
        </p:spPr>
        <p:txBody>
          <a:bodyPr>
            <a:normAutofit/>
          </a:bodyPr>
          <a:lstStyle/>
          <a:p>
            <a:r>
              <a:rPr lang="en-US" sz="2800" b="1" dirty="0">
                <a:solidFill>
                  <a:srgbClr val="00B0F0"/>
                </a:solidFill>
              </a:rPr>
              <a:t>Employee Attrition &amp; Retention</a:t>
            </a: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4635315" y="4672739"/>
            <a:ext cx="5165910" cy="1021498"/>
          </a:xfrm>
        </p:spPr>
        <p:txBody>
          <a:bodyPr>
            <a:normAutofit/>
          </a:bodyPr>
          <a:lstStyle/>
          <a:p>
            <a:r>
              <a:rPr lang="en-US" sz="2000" b="1" dirty="0">
                <a:solidFill>
                  <a:srgbClr val="C00000"/>
                </a:solidFill>
              </a:rPr>
              <a:t>PREPARED BY:- ABHINAV KAKKERI</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pic>
        <p:nvPicPr>
          <p:cNvPr id="6" name="Picture 5">
            <a:extLst>
              <a:ext uri="{FF2B5EF4-FFF2-40B4-BE49-F238E27FC236}">
                <a16:creationId xmlns:a16="http://schemas.microsoft.com/office/drawing/2014/main" id="{3369BADC-1039-BB71-D3CA-FE7215CD5D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314" y="14288"/>
            <a:ext cx="7423336" cy="3686015"/>
          </a:xfrm>
          <a:prstGeom prst="rect">
            <a:avLst/>
          </a:prstGeom>
        </p:spPr>
      </p:pic>
      <p:cxnSp>
        <p:nvCxnSpPr>
          <p:cNvPr id="8" name="Straight Connector 7">
            <a:extLst>
              <a:ext uri="{FF2B5EF4-FFF2-40B4-BE49-F238E27FC236}">
                <a16:creationId xmlns:a16="http://schemas.microsoft.com/office/drawing/2014/main" id="{D6162D70-4076-C4CD-AAED-EC8067BC3EB6}"/>
              </a:ext>
            </a:extLst>
          </p:cNvPr>
          <p:cNvCxnSpPr/>
          <p:nvPr/>
        </p:nvCxnSpPr>
        <p:spPr>
          <a:xfrm>
            <a:off x="4914900" y="4672739"/>
            <a:ext cx="4643438"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1F24C77A-8BD0-5EA8-B7CC-7B1997F961B4}"/>
              </a:ext>
            </a:extLst>
          </p:cNvPr>
          <p:cNvCxnSpPr>
            <a:cxnSpLocks/>
          </p:cNvCxnSpPr>
          <p:nvPr/>
        </p:nvCxnSpPr>
        <p:spPr>
          <a:xfrm>
            <a:off x="4635314" y="3700303"/>
            <a:ext cx="5280211" cy="0"/>
          </a:xfrm>
          <a:prstGeom prst="line">
            <a:avLst/>
          </a:prstGeom>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AC4FF2B0-0192-B7E5-B1EA-D3C0480ABCB1}"/>
              </a:ext>
            </a:extLst>
          </p:cNvPr>
          <p:cNvSpPr/>
          <p:nvPr/>
        </p:nvSpPr>
        <p:spPr>
          <a:xfrm>
            <a:off x="4635314" y="3696301"/>
            <a:ext cx="5380224" cy="1857531"/>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IN" sz="2800" b="1" dirty="0">
                <a:ln w="12700">
                  <a:solidFill>
                    <a:schemeClr val="accent1"/>
                  </a:solidFill>
                  <a:prstDash val="solid"/>
                </a:ln>
                <a:solidFill>
                  <a:schemeClr val="bg1"/>
                </a:solidFill>
                <a:effectLst>
                  <a:outerShdw dist="38100" dir="2640000" algn="bl" rotWithShape="0">
                    <a:schemeClr val="accent1"/>
                  </a:outerShdw>
                </a:effectLst>
              </a:rPr>
              <a:t>Employee Attrition &amp; Retention</a:t>
            </a:r>
          </a:p>
          <a:p>
            <a:pPr algn="ctr"/>
            <a:endParaRPr lang="en-IN" sz="2800" b="1" dirty="0">
              <a:ln w="22225">
                <a:solidFill>
                  <a:schemeClr val="accent2"/>
                </a:solidFill>
                <a:prstDash val="solid"/>
              </a:ln>
              <a:solidFill>
                <a:schemeClr val="bg1"/>
              </a:solidFill>
            </a:endParaRPr>
          </a:p>
          <a:p>
            <a:pPr algn="ctr"/>
            <a:r>
              <a:rPr lang="en-IN" sz="2800" b="1" dirty="0">
                <a:ln w="12700">
                  <a:solidFill>
                    <a:schemeClr val="accent5"/>
                  </a:solidFill>
                  <a:prstDash val="solid"/>
                </a:ln>
                <a:pattFill prst="ltDnDiag">
                  <a:fgClr>
                    <a:schemeClr val="accent5">
                      <a:lumMod val="60000"/>
                      <a:lumOff val="40000"/>
                    </a:schemeClr>
                  </a:fgClr>
                  <a:bgClr>
                    <a:schemeClr val="bg1"/>
                  </a:bgClr>
                </a:pattFill>
              </a:rPr>
              <a:t>Prepared by :- Abhinav </a:t>
            </a:r>
            <a:r>
              <a:rPr lang="en-IN" sz="2800" b="1" dirty="0" err="1">
                <a:ln w="12700">
                  <a:solidFill>
                    <a:schemeClr val="accent5"/>
                  </a:solidFill>
                  <a:prstDash val="solid"/>
                </a:ln>
                <a:pattFill prst="ltDnDiag">
                  <a:fgClr>
                    <a:schemeClr val="accent5">
                      <a:lumMod val="60000"/>
                      <a:lumOff val="40000"/>
                    </a:schemeClr>
                  </a:fgClr>
                  <a:bgClr>
                    <a:schemeClr val="bg1"/>
                  </a:bgClr>
                </a:pattFill>
              </a:rPr>
              <a:t>kakkeri</a:t>
            </a:r>
            <a:endParaRPr lang="en-IN" sz="2800" b="1" dirty="0">
              <a:ln w="12700">
                <a:solidFill>
                  <a:schemeClr val="accent5"/>
                </a:solidFill>
                <a:prstDash val="solid"/>
              </a:ln>
              <a:pattFill prst="ltDnDiag">
                <a:fgClr>
                  <a:schemeClr val="accent5">
                    <a:lumMod val="60000"/>
                    <a:lumOff val="40000"/>
                  </a:schemeClr>
                </a:fgClr>
                <a:bgClr>
                  <a:schemeClr val="bg1"/>
                </a:bgClr>
              </a:pattFill>
            </a:endParaRPr>
          </a:p>
        </p:txBody>
      </p:sp>
      <p:cxnSp>
        <p:nvCxnSpPr>
          <p:cNvPr id="16" name="Straight Connector 15">
            <a:extLst>
              <a:ext uri="{FF2B5EF4-FFF2-40B4-BE49-F238E27FC236}">
                <a16:creationId xmlns:a16="http://schemas.microsoft.com/office/drawing/2014/main" id="{C1602E7A-D5A2-61C6-ACDB-27DA3EA8582A}"/>
              </a:ext>
            </a:extLst>
          </p:cNvPr>
          <p:cNvCxnSpPr>
            <a:cxnSpLocks/>
          </p:cNvCxnSpPr>
          <p:nvPr/>
        </p:nvCxnSpPr>
        <p:spPr>
          <a:xfrm>
            <a:off x="4643437" y="3681051"/>
            <a:ext cx="5386389" cy="19251"/>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798E7B28-B8D8-A905-4D25-D208DA58C057}"/>
              </a:ext>
            </a:extLst>
          </p:cNvPr>
          <p:cNvCxnSpPr>
            <a:cxnSpLocks/>
          </p:cNvCxnSpPr>
          <p:nvPr/>
        </p:nvCxnSpPr>
        <p:spPr>
          <a:xfrm>
            <a:off x="10015538" y="3714590"/>
            <a:ext cx="0" cy="1854492"/>
          </a:xfrm>
          <a:prstGeom prst="line">
            <a:avLst/>
          </a:prstGeom>
        </p:spPr>
        <p:style>
          <a:lnRef idx="3">
            <a:schemeClr val="dk1"/>
          </a:lnRef>
          <a:fillRef idx="0">
            <a:schemeClr val="dk1"/>
          </a:fillRef>
          <a:effectRef idx="2">
            <a:schemeClr val="dk1"/>
          </a:effectRef>
          <a:fontRef idx="minor">
            <a:schemeClr val="tx1"/>
          </a:fontRef>
        </p:style>
      </p:cxnSp>
      <p:cxnSp>
        <p:nvCxnSpPr>
          <p:cNvPr id="32" name="Straight Connector 31">
            <a:extLst>
              <a:ext uri="{FF2B5EF4-FFF2-40B4-BE49-F238E27FC236}">
                <a16:creationId xmlns:a16="http://schemas.microsoft.com/office/drawing/2014/main" id="{62130F91-C5EE-8BDB-6C76-F86DCD0009E1}"/>
              </a:ext>
            </a:extLst>
          </p:cNvPr>
          <p:cNvCxnSpPr>
            <a:cxnSpLocks/>
          </p:cNvCxnSpPr>
          <p:nvPr/>
        </p:nvCxnSpPr>
        <p:spPr>
          <a:xfrm flipV="1">
            <a:off x="4643437" y="5533256"/>
            <a:ext cx="5372101" cy="35826"/>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CF8CFED4-C4F5-A992-D04D-27307397DC64}"/>
              </a:ext>
            </a:extLst>
          </p:cNvPr>
          <p:cNvCxnSpPr>
            <a:cxnSpLocks/>
          </p:cNvCxnSpPr>
          <p:nvPr/>
        </p:nvCxnSpPr>
        <p:spPr>
          <a:xfrm>
            <a:off x="4900612" y="4608765"/>
            <a:ext cx="4900613" cy="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5661-8194-B6AD-99B8-62848B1746DB}"/>
              </a:ext>
            </a:extLst>
          </p:cNvPr>
          <p:cNvSpPr>
            <a:spLocks noGrp="1"/>
          </p:cNvSpPr>
          <p:nvPr>
            <p:ph type="title"/>
          </p:nvPr>
        </p:nvSpPr>
        <p:spPr/>
        <p:txBody>
          <a:bodyPr/>
          <a:lstStyle/>
          <a:p>
            <a:r>
              <a:rPr lang="en-IN" b="1" dirty="0">
                <a:solidFill>
                  <a:srgbClr val="00B0F0"/>
                </a:solidFill>
              </a:rPr>
              <a:t>Introduction</a:t>
            </a:r>
          </a:p>
        </p:txBody>
      </p:sp>
      <p:sp>
        <p:nvSpPr>
          <p:cNvPr id="3" name="Content Placeholder 2">
            <a:extLst>
              <a:ext uri="{FF2B5EF4-FFF2-40B4-BE49-F238E27FC236}">
                <a16:creationId xmlns:a16="http://schemas.microsoft.com/office/drawing/2014/main" id="{97115816-7455-AEE3-BA58-E8B3278BA5FD}"/>
              </a:ext>
            </a:extLst>
          </p:cNvPr>
          <p:cNvSpPr>
            <a:spLocks noGrp="1"/>
          </p:cNvSpPr>
          <p:nvPr>
            <p:ph idx="1"/>
          </p:nvPr>
        </p:nvSpPr>
        <p:spPr/>
        <p:txBody>
          <a:bodyPr>
            <a:normAutofit/>
          </a:bodyPr>
          <a:lstStyle/>
          <a:p>
            <a:pPr>
              <a:buFont typeface="Wingdings" panose="05000000000000000000" pitchFamily="2" charset="2"/>
              <a:buChar char="Ø"/>
            </a:pPr>
            <a:r>
              <a:rPr lang="en-US" sz="2800" b="1" dirty="0"/>
              <a:t>This report provides insights into employee demographics, departmental distribution, job roles, and attrition metrics based on the provided data analytics dashboard. By analyzing these key aspects, organizations can make informed decisions regarding workforce management and retention strategies.</a:t>
            </a:r>
            <a:endParaRPr lang="en-IN" sz="2800" b="1" dirty="0"/>
          </a:p>
        </p:txBody>
      </p:sp>
    </p:spTree>
    <p:extLst>
      <p:ext uri="{BB962C8B-B14F-4D97-AF65-F5344CB8AC3E}">
        <p14:creationId xmlns:p14="http://schemas.microsoft.com/office/powerpoint/2010/main" val="809901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1E149-EF25-F83A-8079-5C58F0A4BCF3}"/>
              </a:ext>
            </a:extLst>
          </p:cNvPr>
          <p:cNvSpPr>
            <a:spLocks noGrp="1"/>
          </p:cNvSpPr>
          <p:nvPr>
            <p:ph type="title"/>
          </p:nvPr>
        </p:nvSpPr>
        <p:spPr/>
        <p:txBody>
          <a:bodyPr/>
          <a:lstStyle/>
          <a:p>
            <a:r>
              <a:rPr lang="en-IN" b="1" dirty="0">
                <a:solidFill>
                  <a:srgbClr val="00B0F0"/>
                </a:solidFill>
              </a:rPr>
              <a:t>Acknowledgment</a:t>
            </a:r>
          </a:p>
        </p:txBody>
      </p:sp>
      <p:sp>
        <p:nvSpPr>
          <p:cNvPr id="3" name="Content Placeholder 2">
            <a:extLst>
              <a:ext uri="{FF2B5EF4-FFF2-40B4-BE49-F238E27FC236}">
                <a16:creationId xmlns:a16="http://schemas.microsoft.com/office/drawing/2014/main" id="{4A6FB410-F192-ACC0-D4A2-AA5E0E98725A}"/>
              </a:ext>
            </a:extLst>
          </p:cNvPr>
          <p:cNvSpPr>
            <a:spLocks noGrp="1"/>
          </p:cNvSpPr>
          <p:nvPr>
            <p:ph idx="1"/>
          </p:nvPr>
        </p:nvSpPr>
        <p:spPr/>
        <p:txBody>
          <a:bodyPr>
            <a:normAutofit fontScale="92500" lnSpcReduction="20000"/>
          </a:bodyPr>
          <a:lstStyle/>
          <a:p>
            <a:pPr>
              <a:buFont typeface="Wingdings" panose="05000000000000000000" pitchFamily="2" charset="2"/>
              <a:buChar char="Ø"/>
            </a:pPr>
            <a:r>
              <a:rPr lang="en-US" b="1" dirty="0"/>
              <a:t>I would like to express my sincere appreciation for the effort and expertise that contributed to the development of this Employee Attrition dashboard. The comprehensive visualizations, including the analysis of job satisfaction, departmental distribution, and attrition reasons, provide valuable insights into workforce trends. </a:t>
            </a:r>
          </a:p>
          <a:p>
            <a:pPr>
              <a:buFont typeface="Wingdings" panose="05000000000000000000" pitchFamily="2" charset="2"/>
              <a:buChar char="Ø"/>
            </a:pPr>
            <a:endParaRPr lang="en-US" b="1" dirty="0"/>
          </a:p>
          <a:p>
            <a:pPr>
              <a:buFont typeface="Wingdings" panose="05000000000000000000" pitchFamily="2" charset="2"/>
              <a:buChar char="Ø"/>
            </a:pPr>
            <a:r>
              <a:rPr lang="en-US" b="1" dirty="0"/>
              <a:t> Special thanks to the [data analytics team, HR professionals, or any contributors] who played a crucial role in gathering, processing, and visualizing the data, ensuring an accurate representation of employee attrition dynamics.</a:t>
            </a:r>
            <a:endParaRPr lang="en-IN" b="1" dirty="0"/>
          </a:p>
        </p:txBody>
      </p:sp>
    </p:spTree>
    <p:extLst>
      <p:ext uri="{BB962C8B-B14F-4D97-AF65-F5344CB8AC3E}">
        <p14:creationId xmlns:p14="http://schemas.microsoft.com/office/powerpoint/2010/main" val="2586973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85C8-BCF3-6353-7790-24F6D707F4AA}"/>
              </a:ext>
            </a:extLst>
          </p:cNvPr>
          <p:cNvSpPr>
            <a:spLocks noGrp="1"/>
          </p:cNvSpPr>
          <p:nvPr>
            <p:ph type="title"/>
          </p:nvPr>
        </p:nvSpPr>
        <p:spPr>
          <a:xfrm>
            <a:off x="1295402" y="982133"/>
            <a:ext cx="9601196" cy="689506"/>
          </a:xfrm>
        </p:spPr>
        <p:txBody>
          <a:bodyPr>
            <a:normAutofit fontScale="90000"/>
          </a:bodyPr>
          <a:lstStyle/>
          <a:p>
            <a:r>
              <a:rPr lang="en-IN" b="1" dirty="0">
                <a:solidFill>
                  <a:srgbClr val="00B0F0"/>
                </a:solidFill>
              </a:rPr>
              <a:t>Dashboard</a:t>
            </a:r>
          </a:p>
        </p:txBody>
      </p:sp>
      <p:pic>
        <p:nvPicPr>
          <p:cNvPr id="5" name="Content Placeholder 4">
            <a:extLst>
              <a:ext uri="{FF2B5EF4-FFF2-40B4-BE49-F238E27FC236}">
                <a16:creationId xmlns:a16="http://schemas.microsoft.com/office/drawing/2014/main" id="{6E025DA3-6F7B-3576-6A02-52BD4529D3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550" y="1800225"/>
            <a:ext cx="10401299" cy="4300538"/>
          </a:xfrm>
        </p:spPr>
      </p:pic>
      <p:cxnSp>
        <p:nvCxnSpPr>
          <p:cNvPr id="7" name="Straight Connector 6">
            <a:extLst>
              <a:ext uri="{FF2B5EF4-FFF2-40B4-BE49-F238E27FC236}">
                <a16:creationId xmlns:a16="http://schemas.microsoft.com/office/drawing/2014/main" id="{F2B925AE-BBEE-55B2-134A-49AEB30EC71A}"/>
              </a:ext>
            </a:extLst>
          </p:cNvPr>
          <p:cNvCxnSpPr>
            <a:cxnSpLocks/>
          </p:cNvCxnSpPr>
          <p:nvPr/>
        </p:nvCxnSpPr>
        <p:spPr>
          <a:xfrm>
            <a:off x="971550" y="1671639"/>
            <a:ext cx="1040129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2382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97CA5-817E-96FB-A801-7B6F97C49C19}"/>
              </a:ext>
            </a:extLst>
          </p:cNvPr>
          <p:cNvSpPr>
            <a:spLocks noGrp="1"/>
          </p:cNvSpPr>
          <p:nvPr>
            <p:ph type="title"/>
          </p:nvPr>
        </p:nvSpPr>
        <p:spPr/>
        <p:txBody>
          <a:bodyPr/>
          <a:lstStyle/>
          <a:p>
            <a:r>
              <a:rPr lang="en-IN" b="1" dirty="0">
                <a:solidFill>
                  <a:srgbClr val="00B0F0"/>
                </a:solidFill>
              </a:rPr>
              <a:t>Key Insights</a:t>
            </a:r>
          </a:p>
        </p:txBody>
      </p:sp>
      <p:sp>
        <p:nvSpPr>
          <p:cNvPr id="3" name="Content Placeholder 2">
            <a:extLst>
              <a:ext uri="{FF2B5EF4-FFF2-40B4-BE49-F238E27FC236}">
                <a16:creationId xmlns:a16="http://schemas.microsoft.com/office/drawing/2014/main" id="{62AE7A54-57C6-8AE5-4A08-F9C4BA64C2DC}"/>
              </a:ext>
            </a:extLst>
          </p:cNvPr>
          <p:cNvSpPr>
            <a:spLocks noGrp="1"/>
          </p:cNvSpPr>
          <p:nvPr>
            <p:ph idx="1"/>
          </p:nvPr>
        </p:nvSpPr>
        <p:spPr/>
        <p:txBody>
          <a:bodyPr>
            <a:normAutofit fontScale="92500"/>
          </a:bodyPr>
          <a:lstStyle/>
          <a:p>
            <a:pPr>
              <a:buFont typeface="Wingdings" panose="05000000000000000000" pitchFamily="2" charset="2"/>
              <a:buChar char="Ø"/>
            </a:pPr>
            <a:r>
              <a:rPr lang="en-US" sz="2400" b="1" dirty="0">
                <a:solidFill>
                  <a:srgbClr val="FF0000"/>
                </a:solidFill>
              </a:rPr>
              <a:t>1. Employee Distribution by Marital Status and Job Role</a:t>
            </a:r>
            <a:r>
              <a:rPr lang="en-US" sz="2400" b="1" dirty="0"/>
              <a:t>:- The pie chart indicates the proportion of employees categorized by marital status and job role.- This segmentation provides insight into the workforce composition and potential correlations between marital status and job roles.####</a:t>
            </a:r>
          </a:p>
          <a:p>
            <a:pPr>
              <a:buFont typeface="Wingdings" panose="05000000000000000000" pitchFamily="2" charset="2"/>
              <a:buChar char="Ø"/>
            </a:pPr>
            <a:r>
              <a:rPr lang="en-US" sz="2400" b="1" dirty="0">
                <a:solidFill>
                  <a:srgbClr val="FF0000"/>
                </a:solidFill>
              </a:rPr>
              <a:t> 2. Departmental Employee Count</a:t>
            </a:r>
            <a:r>
              <a:rPr lang="en-US" sz="2400" b="1" dirty="0"/>
              <a:t>:- A bar graph illustrates the number of employees within different departments.- Identifying departments with higher or lower employee concentrations can be useful in evaluating resource allocation and department-specific retention concerns.</a:t>
            </a:r>
            <a:endParaRPr lang="en-IN" sz="2400" b="1" dirty="0"/>
          </a:p>
        </p:txBody>
      </p:sp>
    </p:spTree>
    <p:extLst>
      <p:ext uri="{BB962C8B-B14F-4D97-AF65-F5344CB8AC3E}">
        <p14:creationId xmlns:p14="http://schemas.microsoft.com/office/powerpoint/2010/main" val="1413283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8DBC3-2926-B220-7907-BC7ED4040518}"/>
              </a:ext>
            </a:extLst>
          </p:cNvPr>
          <p:cNvSpPr>
            <a:spLocks noGrp="1"/>
          </p:cNvSpPr>
          <p:nvPr>
            <p:ph type="title"/>
          </p:nvPr>
        </p:nvSpPr>
        <p:spPr/>
        <p:txBody>
          <a:bodyPr/>
          <a:lstStyle/>
          <a:p>
            <a:r>
              <a:rPr lang="en-IN" b="1" dirty="0">
                <a:solidFill>
                  <a:srgbClr val="00B0F0"/>
                </a:solidFill>
              </a:rPr>
              <a:t>Key Insights</a:t>
            </a:r>
            <a:endParaRPr lang="en-IN" dirty="0"/>
          </a:p>
        </p:txBody>
      </p:sp>
      <p:sp>
        <p:nvSpPr>
          <p:cNvPr id="3" name="Content Placeholder 2">
            <a:extLst>
              <a:ext uri="{FF2B5EF4-FFF2-40B4-BE49-F238E27FC236}">
                <a16:creationId xmlns:a16="http://schemas.microsoft.com/office/drawing/2014/main" id="{9ABA0291-B044-EB18-5B19-6C58AC1043E9}"/>
              </a:ext>
            </a:extLst>
          </p:cNvPr>
          <p:cNvSpPr>
            <a:spLocks noGrp="1"/>
          </p:cNvSpPr>
          <p:nvPr>
            <p:ph idx="1"/>
          </p:nvPr>
        </p:nvSpPr>
        <p:spPr/>
        <p:txBody>
          <a:bodyPr>
            <a:normAutofit fontScale="85000" lnSpcReduction="20000"/>
          </a:bodyPr>
          <a:lstStyle/>
          <a:p>
            <a:pPr algn="just">
              <a:buFont typeface="Wingdings" panose="05000000000000000000" pitchFamily="2" charset="2"/>
              <a:buChar char="Ø"/>
            </a:pPr>
            <a:r>
              <a:rPr lang="en-US" b="1" dirty="0">
                <a:solidFill>
                  <a:srgbClr val="FF0000"/>
                </a:solidFill>
              </a:rPr>
              <a:t>3. Age Distribution by Job Role</a:t>
            </a:r>
            <a:r>
              <a:rPr lang="en-US" b="1" dirty="0"/>
              <a:t>:- The bar graph shows the total age sum categorized by job role.- It helps in assessing the age diversity within different job roles, which may influence succession planning and experience-driven decision-making.#### </a:t>
            </a:r>
          </a:p>
          <a:p>
            <a:pPr algn="just">
              <a:buFont typeface="Wingdings" panose="05000000000000000000" pitchFamily="2" charset="2"/>
              <a:buChar char="Ø"/>
            </a:pPr>
            <a:r>
              <a:rPr lang="en-US" b="1" dirty="0">
                <a:solidFill>
                  <a:srgbClr val="FF0000"/>
                </a:solidFill>
              </a:rPr>
              <a:t>4. Age &amp; Monthly Income Analysis</a:t>
            </a:r>
            <a:r>
              <a:rPr lang="en-US" b="1" dirty="0"/>
              <a:t>:- The table presents a breakdown of employees' age alongside their corresponding monthly income.- This analysis aids in understanding income disparities and whether age plays a significant role in salary distribution.#### </a:t>
            </a:r>
          </a:p>
          <a:p>
            <a:pPr algn="just">
              <a:buFont typeface="Wingdings" panose="05000000000000000000" pitchFamily="2" charset="2"/>
              <a:buChar char="Ø"/>
            </a:pPr>
            <a:r>
              <a:rPr lang="en-US" b="1" dirty="0">
                <a:solidFill>
                  <a:srgbClr val="FF0000"/>
                </a:solidFill>
              </a:rPr>
              <a:t>5. Employee Attrition Metrics</a:t>
            </a:r>
            <a:r>
              <a:rPr lang="en-US" b="1" dirty="0"/>
              <a:t>:- The "Employee Attrition" section contains various relevant metrics.- Organizations can assess attrition trends by department, job role, and other factors to identify patterns that may contribute to employee turnover.- This insight assists in developing targeted strategies to improve employee satisfaction and reduce attrition rates.</a:t>
            </a:r>
            <a:endParaRPr lang="en-IN" b="1" dirty="0"/>
          </a:p>
        </p:txBody>
      </p:sp>
    </p:spTree>
    <p:extLst>
      <p:ext uri="{BB962C8B-B14F-4D97-AF65-F5344CB8AC3E}">
        <p14:creationId xmlns:p14="http://schemas.microsoft.com/office/powerpoint/2010/main" val="813986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B49C9-4D37-005A-B582-CE857AAA8B25}"/>
              </a:ext>
            </a:extLst>
          </p:cNvPr>
          <p:cNvSpPr>
            <a:spLocks noGrp="1"/>
          </p:cNvSpPr>
          <p:nvPr>
            <p:ph type="title"/>
          </p:nvPr>
        </p:nvSpPr>
        <p:spPr/>
        <p:txBody>
          <a:bodyPr/>
          <a:lstStyle/>
          <a:p>
            <a:r>
              <a:rPr lang="en-IN" b="1" dirty="0">
                <a:solidFill>
                  <a:srgbClr val="00B0F0"/>
                </a:solidFill>
              </a:rPr>
              <a:t>Conclusion</a:t>
            </a:r>
          </a:p>
        </p:txBody>
      </p:sp>
      <p:sp>
        <p:nvSpPr>
          <p:cNvPr id="3" name="Content Placeholder 2">
            <a:extLst>
              <a:ext uri="{FF2B5EF4-FFF2-40B4-BE49-F238E27FC236}">
                <a16:creationId xmlns:a16="http://schemas.microsoft.com/office/drawing/2014/main" id="{11876A5A-153F-29A2-65FB-1FA3D4FAFFE2}"/>
              </a:ext>
            </a:extLst>
          </p:cNvPr>
          <p:cNvSpPr>
            <a:spLocks noGrp="1"/>
          </p:cNvSpPr>
          <p:nvPr>
            <p:ph idx="1"/>
          </p:nvPr>
        </p:nvSpPr>
        <p:spPr/>
        <p:txBody>
          <a:bodyPr>
            <a:normAutofit/>
          </a:bodyPr>
          <a:lstStyle/>
          <a:p>
            <a:pPr>
              <a:buFont typeface="Wingdings" panose="05000000000000000000" pitchFamily="2" charset="2"/>
              <a:buChar char="Ø"/>
            </a:pPr>
            <a:r>
              <a:rPr lang="en-US" sz="2800" b="1" dirty="0"/>
              <a:t>This dashboard provides valuable insights into workforce distribution and attrition. Organizations can utilize this data to enhance employee retention strategies, optimize departmental resources, and analyze salary distribution trends for improved workforce management.</a:t>
            </a:r>
            <a:endParaRPr lang="en-IN" sz="2800" b="1" dirty="0"/>
          </a:p>
        </p:txBody>
      </p:sp>
    </p:spTree>
    <p:extLst>
      <p:ext uri="{BB962C8B-B14F-4D97-AF65-F5344CB8AC3E}">
        <p14:creationId xmlns:p14="http://schemas.microsoft.com/office/powerpoint/2010/main" val="104137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98BFFC0-A92E-8208-8067-192ABC117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4512" y="753070"/>
            <a:ext cx="8562975" cy="5351859"/>
          </a:xfrm>
          <a:prstGeom prst="rect">
            <a:avLst/>
          </a:prstGeom>
        </p:spPr>
      </p:pic>
    </p:spTree>
    <p:extLst>
      <p:ext uri="{BB962C8B-B14F-4D97-AF65-F5344CB8AC3E}">
        <p14:creationId xmlns:p14="http://schemas.microsoft.com/office/powerpoint/2010/main" val="15722368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9DAD249-BF80-48EF-9AFB-36A11BCDC2CE}">
  <ds:schemaRefs>
    <ds:schemaRef ds:uri="http://schemas.microsoft.com/sharepoint/v3/contenttype/forms"/>
  </ds:schemaRefs>
</ds:datastoreItem>
</file>

<file path=customXml/itemProps3.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Organic</Template>
  <TotalTime>97</TotalTime>
  <Words>419</Words>
  <Application>Microsoft Office PowerPoint</Application>
  <PresentationFormat>Widescreen</PresentationFormat>
  <Paragraphs>21</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Garamond</vt:lpstr>
      <vt:lpstr>Wingdings</vt:lpstr>
      <vt:lpstr>Organic</vt:lpstr>
      <vt:lpstr>Employee Attrition &amp; Retention</vt:lpstr>
      <vt:lpstr>Introduction</vt:lpstr>
      <vt:lpstr>Acknowledgment</vt:lpstr>
      <vt:lpstr>Dashboard</vt:lpstr>
      <vt:lpstr>Key Insights</vt:lpstr>
      <vt:lpstr>Key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Asus</dc:creator>
  <cp:lastModifiedBy>Asus</cp:lastModifiedBy>
  <cp:revision>3</cp:revision>
  <dcterms:created xsi:type="dcterms:W3CDTF">2025-04-11T15:53:59Z</dcterms:created>
  <dcterms:modified xsi:type="dcterms:W3CDTF">2025-04-11T17:31:55Z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